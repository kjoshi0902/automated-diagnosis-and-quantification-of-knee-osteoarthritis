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" charset="1" panose="00000500000000000000"/>
      <p:regular r:id="rId25"/>
    </p:embeddedFont>
    <p:embeddedFont>
      <p:font typeface="Poppins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7684" y="5496684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12305" y="-193005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17953" y="6316953"/>
            <a:ext cx="3970047" cy="3970047"/>
          </a:xfrm>
          <a:custGeom>
            <a:avLst/>
            <a:gdLst/>
            <a:ahLst/>
            <a:cxnLst/>
            <a:rect r="r" b="b" t="t" l="l"/>
            <a:pathLst>
              <a:path h="3970047" w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0" y="0"/>
            <a:ext cx="3970047" cy="3970047"/>
          </a:xfrm>
          <a:custGeom>
            <a:avLst/>
            <a:gdLst/>
            <a:ahLst/>
            <a:cxnLst/>
            <a:rect r="r" b="b" t="t" l="l"/>
            <a:pathLst>
              <a:path h="3970047" w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87929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248497" y="5633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62486" y="4685541"/>
            <a:ext cx="11385697" cy="133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0"/>
              </a:lnSpc>
              <a:spcBef>
                <a:spcPct val="0"/>
              </a:spcBef>
            </a:pPr>
            <a:r>
              <a:rPr lang="en-US" sz="37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DIAGNOSIS AND QUANTIFICATION OF KNEE OSTEOARTHRITIS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11281" y="9226791"/>
            <a:ext cx="6514626" cy="90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</a:pPr>
            <a:r>
              <a:rPr lang="en-US" sz="25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 : KARTIK JOSHI</a:t>
            </a:r>
          </a:p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b="true" sz="254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8024320057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09209" y="1028700"/>
            <a:ext cx="4092253" cy="3336254"/>
          </a:xfrm>
          <a:custGeom>
            <a:avLst/>
            <a:gdLst/>
            <a:ahLst/>
            <a:cxnLst/>
            <a:rect r="r" b="b" t="t" l="l"/>
            <a:pathLst>
              <a:path h="3336254" w="4092253">
                <a:moveTo>
                  <a:pt x="0" y="0"/>
                </a:moveTo>
                <a:lnTo>
                  <a:pt x="4092252" y="0"/>
                </a:lnTo>
                <a:lnTo>
                  <a:pt x="4092252" y="3336254"/>
                </a:lnTo>
                <a:lnTo>
                  <a:pt x="0" y="3336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9832" y="201808"/>
            <a:ext cx="574767" cy="723171"/>
          </a:xfrm>
          <a:custGeom>
            <a:avLst/>
            <a:gdLst/>
            <a:ahLst/>
            <a:cxnLst/>
            <a:rect r="r" b="b" t="t" l="l"/>
            <a:pathLst>
              <a:path h="723171" w="574767">
                <a:moveTo>
                  <a:pt x="0" y="0"/>
                </a:moveTo>
                <a:lnTo>
                  <a:pt x="574767" y="0"/>
                </a:lnTo>
                <a:lnTo>
                  <a:pt x="574767" y="723172"/>
                </a:lnTo>
                <a:lnTo>
                  <a:pt x="0" y="7231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62786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498022" y="6240753"/>
            <a:ext cx="6514626" cy="22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7"/>
              </a:lnSpc>
            </a:pPr>
            <a:r>
              <a:rPr lang="en-US" sz="25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 THE SUPERVISION OF</a:t>
            </a:r>
          </a:p>
          <a:p>
            <a:pPr algn="ctr">
              <a:lnSpc>
                <a:spcPts val="3567"/>
              </a:lnSpc>
            </a:pPr>
            <a:r>
              <a:rPr lang="en-US" sz="25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Dr. Rajiv Kumar</a:t>
            </a:r>
          </a:p>
          <a:p>
            <a:pPr algn="ctr">
              <a:lnSpc>
                <a:spcPts val="3567"/>
              </a:lnSpc>
            </a:pPr>
            <a:r>
              <a:rPr lang="en-US" sz="25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Associate Professor</a:t>
            </a:r>
          </a:p>
          <a:p>
            <a:pPr algn="ctr">
              <a:lnSpc>
                <a:spcPts val="3567"/>
              </a:lnSpc>
            </a:pPr>
            <a:r>
              <a:rPr lang="en-US" sz="25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Dr. Vibha Jain</a:t>
            </a:r>
          </a:p>
          <a:p>
            <a:pPr algn="ctr">
              <a:lnSpc>
                <a:spcPts val="3567"/>
              </a:lnSpc>
              <a:spcBef>
                <a:spcPct val="0"/>
              </a:spcBef>
            </a:pPr>
            <a:r>
              <a:rPr lang="en-US" sz="25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Assistant Professor - 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765477" y="-1000808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7" y="0"/>
                </a:lnTo>
                <a:lnTo>
                  <a:pt x="1794177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660" y="3309959"/>
            <a:ext cx="11466695" cy="538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b="true" sz="25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Knee Osteoarthritis</a:t>
            </a: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(KOA) is a degenerative joint disease affecting the cartilage between femur and tibia.</a:t>
            </a:r>
          </a:p>
          <a:p>
            <a:pPr algn="just">
              <a:lnSpc>
                <a:spcPts val="3599"/>
              </a:lnSpc>
            </a:pPr>
          </a:p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causes pain, stiffness, and reduced mobility, especially in weight-bearing joints.</a:t>
            </a:r>
          </a:p>
          <a:p>
            <a:pPr algn="just">
              <a:lnSpc>
                <a:spcPts val="3599"/>
              </a:lnSpc>
            </a:pPr>
          </a:p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Diagnosis depends on manual </a:t>
            </a:r>
            <a:r>
              <a:rPr lang="en-US" b="true" sz="25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X-ray</a:t>
            </a: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grading, which is subjective.</a:t>
            </a:r>
          </a:p>
          <a:p>
            <a:pPr algn="just">
              <a:lnSpc>
                <a:spcPts val="3599"/>
              </a:lnSpc>
            </a:pPr>
          </a:p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Early joint changes are difficult to detect visually.</a:t>
            </a:r>
          </a:p>
          <a:p>
            <a:pPr algn="just">
              <a:lnSpc>
                <a:spcPts val="3599"/>
              </a:lnSpc>
            </a:pPr>
          </a:p>
          <a:p>
            <a:pPr algn="just" marL="555030" indent="-277515" lvl="1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need exists for an automated and objective diagnostic system.</a:t>
            </a:r>
          </a:p>
          <a:p>
            <a:pPr algn="just">
              <a:lnSpc>
                <a:spcPts val="359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367741" y="773797"/>
            <a:ext cx="5538711" cy="1030616"/>
            <a:chOff x="0" y="0"/>
            <a:chExt cx="1666785" cy="3101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948425" y="2175749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891929" y="9622014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2248707" y="2988635"/>
            <a:ext cx="5670698" cy="3709012"/>
          </a:xfrm>
          <a:custGeom>
            <a:avLst/>
            <a:gdLst/>
            <a:ahLst/>
            <a:cxnLst/>
            <a:rect r="r" b="b" t="t" l="l"/>
            <a:pathLst>
              <a:path h="3709012" w="5670698">
                <a:moveTo>
                  <a:pt x="0" y="0"/>
                </a:moveTo>
                <a:lnTo>
                  <a:pt x="5670698" y="0"/>
                </a:lnTo>
                <a:lnTo>
                  <a:pt x="5670698" y="3709012"/>
                </a:lnTo>
                <a:lnTo>
                  <a:pt x="0" y="37090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875" t="-976" r="-82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66838" y="858062"/>
            <a:ext cx="4740516" cy="81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827190" y="7826190"/>
            <a:ext cx="2864220" cy="2864220"/>
          </a:xfrm>
          <a:custGeom>
            <a:avLst/>
            <a:gdLst/>
            <a:ahLst/>
            <a:cxnLst/>
            <a:rect r="r" b="b" t="t" l="l"/>
            <a:pathLst>
              <a:path h="2864220" w="2864220">
                <a:moveTo>
                  <a:pt x="0" y="0"/>
                </a:moveTo>
                <a:lnTo>
                  <a:pt x="2864220" y="0"/>
                </a:lnTo>
                <a:lnTo>
                  <a:pt x="2864220" y="2864220"/>
                </a:lnTo>
                <a:lnTo>
                  <a:pt x="0" y="2864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7233845" y="9399698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4"/>
                </a:lnTo>
                <a:lnTo>
                  <a:pt x="0" y="17746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0162" y="9553092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2" y="0"/>
                </a:lnTo>
                <a:lnTo>
                  <a:pt x="1432702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52864" y="2681691"/>
            <a:ext cx="11466695" cy="672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9"/>
              </a:lnSpc>
            </a:pPr>
            <a:r>
              <a:rPr lang="en-US" sz="25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Kellgren–Lawrence </a:t>
            </a: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(KL) grading is the clinical standard for KOA severity.</a:t>
            </a:r>
          </a:p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 widely accepted clinical standard for KOA diagnosis.</a:t>
            </a:r>
          </a:p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Based on structural changes seen in X-ray images.</a:t>
            </a:r>
          </a:p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b="true" sz="25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Higher grade</a:t>
            </a: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= greater cartilage loss and disability.</a:t>
            </a:r>
          </a:p>
          <a:p>
            <a:pPr algn="just">
              <a:lnSpc>
                <a:spcPts val="3599"/>
              </a:lnSpc>
            </a:pPr>
          </a:p>
          <a:p>
            <a:pPr algn="just">
              <a:lnSpc>
                <a:spcPts val="3599"/>
              </a:lnSpc>
            </a:pP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SEVERITY LEVELS : </a:t>
            </a:r>
          </a:p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b="true" sz="25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Grade 0 </a:t>
            </a: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Normal</a:t>
            </a:r>
          </a:p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b="true" sz="25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Grade 1 </a:t>
            </a: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Early signs, doubtful</a:t>
            </a:r>
          </a:p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b="true" sz="25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Grade 2 </a:t>
            </a: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Mild OA, visible osteophytes</a:t>
            </a:r>
          </a:p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b="true" sz="25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Grade 3</a:t>
            </a: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— Moderate OA, clear JSN</a:t>
            </a:r>
          </a:p>
          <a:p>
            <a:pPr algn="just" marL="555030" indent="-277515" lvl="1">
              <a:lnSpc>
                <a:spcPts val="3599"/>
              </a:lnSpc>
              <a:buFont typeface="Arial"/>
              <a:buChar char="•"/>
            </a:pPr>
            <a:r>
              <a:rPr lang="en-US" b="true" sz="25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Grade 4 </a:t>
            </a: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Severe OA, near bone-on-bone</a:t>
            </a:r>
          </a:p>
          <a:p>
            <a:pPr algn="just">
              <a:lnSpc>
                <a:spcPts val="3599"/>
              </a:lnSpc>
            </a:pPr>
          </a:p>
          <a:p>
            <a:pPr algn="just">
              <a:lnSpc>
                <a:spcPts val="3599"/>
              </a:lnSpc>
              <a:spcBef>
                <a:spcPct val="0"/>
              </a:spcBef>
            </a:pPr>
            <a:r>
              <a:rPr lang="en-US" b="true" sz="25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Joint Space Width</a:t>
            </a:r>
            <a:r>
              <a:rPr lang="en-US" sz="25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(JSW) is a key measurable indicator in grading.</a:t>
            </a:r>
          </a:p>
          <a:p>
            <a:pPr algn="just">
              <a:lnSpc>
                <a:spcPts val="359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5595412" y="773797"/>
            <a:ext cx="7608516" cy="1030616"/>
            <a:chOff x="0" y="0"/>
            <a:chExt cx="2289660" cy="3101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9660" cy="310147"/>
            </a:xfrm>
            <a:custGeom>
              <a:avLst/>
              <a:gdLst/>
              <a:ahLst/>
              <a:cxnLst/>
              <a:rect r="r" b="b" t="t" l="l"/>
              <a:pathLst>
                <a:path h="310147" w="2289660">
                  <a:moveTo>
                    <a:pt x="0" y="0"/>
                  </a:moveTo>
                  <a:lnTo>
                    <a:pt x="2289660" y="0"/>
                  </a:lnTo>
                  <a:lnTo>
                    <a:pt x="2289660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89660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948425" y="2175749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891929" y="10012746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5827190" y="7826190"/>
            <a:ext cx="2864220" cy="2864220"/>
          </a:xfrm>
          <a:custGeom>
            <a:avLst/>
            <a:gdLst/>
            <a:ahLst/>
            <a:cxnLst/>
            <a:rect r="r" b="b" t="t" l="l"/>
            <a:pathLst>
              <a:path h="2864220" w="2864220">
                <a:moveTo>
                  <a:pt x="0" y="0"/>
                </a:moveTo>
                <a:lnTo>
                  <a:pt x="2864220" y="0"/>
                </a:lnTo>
                <a:lnTo>
                  <a:pt x="2864220" y="2864220"/>
                </a:lnTo>
                <a:lnTo>
                  <a:pt x="0" y="2864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7230059" y="9407719"/>
            <a:ext cx="2115881" cy="2092799"/>
          </a:xfrm>
          <a:custGeom>
            <a:avLst/>
            <a:gdLst/>
            <a:ahLst/>
            <a:cxnLst/>
            <a:rect r="r" b="b" t="t" l="l"/>
            <a:pathLst>
              <a:path h="2092799" w="2115881">
                <a:moveTo>
                  <a:pt x="0" y="0"/>
                </a:moveTo>
                <a:lnTo>
                  <a:pt x="2115882" y="0"/>
                </a:lnTo>
                <a:lnTo>
                  <a:pt x="2115882" y="2092799"/>
                </a:lnTo>
                <a:lnTo>
                  <a:pt x="0" y="209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31976">
            <a:off x="15073744" y="7299283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8"/>
                </a:lnTo>
                <a:lnTo>
                  <a:pt x="0" y="3328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122100" y="810203"/>
            <a:ext cx="6555139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KL GRADING SYSTEM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0162" y="9553092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2" y="0"/>
                </a:lnTo>
                <a:lnTo>
                  <a:pt x="1432702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65361" y="739506"/>
            <a:ext cx="10557279" cy="1030616"/>
            <a:chOff x="0" y="0"/>
            <a:chExt cx="3177042" cy="3101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7042" cy="310147"/>
            </a:xfrm>
            <a:custGeom>
              <a:avLst/>
              <a:gdLst/>
              <a:ahLst/>
              <a:cxnLst/>
              <a:rect r="r" b="b" t="t" l="l"/>
              <a:pathLst>
                <a:path h="310147" w="3177042">
                  <a:moveTo>
                    <a:pt x="0" y="0"/>
                  </a:moveTo>
                  <a:lnTo>
                    <a:pt x="3177042" y="0"/>
                  </a:lnTo>
                  <a:lnTo>
                    <a:pt x="3177042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177042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7948425" y="2175749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891929" y="10012746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5827190" y="7826190"/>
            <a:ext cx="2864220" cy="2864220"/>
          </a:xfrm>
          <a:custGeom>
            <a:avLst/>
            <a:gdLst/>
            <a:ahLst/>
            <a:cxnLst/>
            <a:rect r="r" b="b" t="t" l="l"/>
            <a:pathLst>
              <a:path h="2864220" w="2864220">
                <a:moveTo>
                  <a:pt x="0" y="0"/>
                </a:moveTo>
                <a:lnTo>
                  <a:pt x="2864220" y="0"/>
                </a:lnTo>
                <a:lnTo>
                  <a:pt x="2864220" y="2864220"/>
                </a:lnTo>
                <a:lnTo>
                  <a:pt x="0" y="2864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7213250" y="9379328"/>
            <a:ext cx="1835367" cy="1815345"/>
          </a:xfrm>
          <a:custGeom>
            <a:avLst/>
            <a:gdLst/>
            <a:ahLst/>
            <a:cxnLst/>
            <a:rect r="r" b="b" t="t" l="l"/>
            <a:pathLst>
              <a:path h="1815345" w="1835367">
                <a:moveTo>
                  <a:pt x="0" y="0"/>
                </a:moveTo>
                <a:lnTo>
                  <a:pt x="1835368" y="0"/>
                </a:lnTo>
                <a:lnTo>
                  <a:pt x="1835368" y="1815344"/>
                </a:lnTo>
                <a:lnTo>
                  <a:pt x="0" y="18153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46272" y="2757891"/>
            <a:ext cx="13580918" cy="5928593"/>
          </a:xfrm>
          <a:custGeom>
            <a:avLst/>
            <a:gdLst/>
            <a:ahLst/>
            <a:cxnLst/>
            <a:rect r="r" b="b" t="t" l="l"/>
            <a:pathLst>
              <a:path h="5928593" w="13580918">
                <a:moveTo>
                  <a:pt x="0" y="0"/>
                </a:moveTo>
                <a:lnTo>
                  <a:pt x="13580918" y="0"/>
                </a:lnTo>
                <a:lnTo>
                  <a:pt x="13580918" y="5928594"/>
                </a:lnTo>
                <a:lnTo>
                  <a:pt x="0" y="5928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432734" y="779780"/>
            <a:ext cx="9705090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KL GRADING SYSTEM STRUCTURE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362931" y="7361931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9" y="0"/>
                </a:lnTo>
                <a:lnTo>
                  <a:pt x="3328479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210721" y="3857614"/>
            <a:ext cx="5729748" cy="3408933"/>
            <a:chOff x="0" y="0"/>
            <a:chExt cx="1509069" cy="8978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9069" cy="897826"/>
            </a:xfrm>
            <a:custGeom>
              <a:avLst/>
              <a:gdLst/>
              <a:ahLst/>
              <a:cxnLst/>
              <a:rect r="r" b="b" t="t" l="l"/>
              <a:pathLst>
                <a:path h="897826" w="1509069">
                  <a:moveTo>
                    <a:pt x="0" y="0"/>
                  </a:moveTo>
                  <a:lnTo>
                    <a:pt x="1509069" y="0"/>
                  </a:lnTo>
                  <a:lnTo>
                    <a:pt x="1509069" y="897826"/>
                  </a:lnTo>
                  <a:lnTo>
                    <a:pt x="0" y="8978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509069" cy="954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47531" y="3857614"/>
            <a:ext cx="5729748" cy="3408933"/>
            <a:chOff x="0" y="0"/>
            <a:chExt cx="1509069" cy="8978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09069" cy="897826"/>
            </a:xfrm>
            <a:custGeom>
              <a:avLst/>
              <a:gdLst/>
              <a:ahLst/>
              <a:cxnLst/>
              <a:rect r="r" b="b" t="t" l="l"/>
              <a:pathLst>
                <a:path h="897826" w="1509069">
                  <a:moveTo>
                    <a:pt x="0" y="0"/>
                  </a:moveTo>
                  <a:lnTo>
                    <a:pt x="1509069" y="0"/>
                  </a:lnTo>
                  <a:lnTo>
                    <a:pt x="1509069" y="897826"/>
                  </a:lnTo>
                  <a:lnTo>
                    <a:pt x="0" y="8978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509069" cy="954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610838" y="5086350"/>
            <a:ext cx="4956960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Existing </a:t>
            </a: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KOA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models provide only severity labels without measuring </a:t>
            </a: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JSW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97719" y="5086350"/>
            <a:ext cx="4956960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Lack of a combined </a:t>
            </a: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classification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+ </a:t>
            </a: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quantification 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reduces clinical usability.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368095" y="1235177"/>
            <a:ext cx="7551809" cy="1030616"/>
            <a:chOff x="0" y="0"/>
            <a:chExt cx="2272595" cy="3101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2595" cy="310147"/>
            </a:xfrm>
            <a:custGeom>
              <a:avLst/>
              <a:gdLst/>
              <a:ahLst/>
              <a:cxnLst/>
              <a:rect r="r" b="b" t="t" l="l"/>
              <a:pathLst>
                <a:path h="310147" w="2272595">
                  <a:moveTo>
                    <a:pt x="0" y="0"/>
                  </a:moveTo>
                  <a:lnTo>
                    <a:pt x="2272595" y="0"/>
                  </a:lnTo>
                  <a:lnTo>
                    <a:pt x="227259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27259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089317" y="1275465"/>
            <a:ext cx="6277152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AutoShape 22" id="22"/>
          <p:cNvSpPr/>
          <p:nvPr/>
        </p:nvSpPr>
        <p:spPr>
          <a:xfrm>
            <a:off x="7891929" y="2865355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7891929" y="9622014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4875863" y="3558515"/>
            <a:ext cx="2305717" cy="598197"/>
            <a:chOff x="0" y="0"/>
            <a:chExt cx="1348510" cy="3498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8510" cy="349858"/>
            </a:xfrm>
            <a:custGeom>
              <a:avLst/>
              <a:gdLst/>
              <a:ahLst/>
              <a:cxnLst/>
              <a:rect r="r" b="b" t="t" l="l"/>
              <a:pathLst>
                <a:path h="349858" w="1348510">
                  <a:moveTo>
                    <a:pt x="0" y="0"/>
                  </a:moveTo>
                  <a:lnTo>
                    <a:pt x="1348510" y="0"/>
                  </a:lnTo>
                  <a:lnTo>
                    <a:pt x="1348510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48510" cy="407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59547" y="3558515"/>
            <a:ext cx="2305717" cy="598197"/>
            <a:chOff x="0" y="0"/>
            <a:chExt cx="1348510" cy="3498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8510" cy="349858"/>
            </a:xfrm>
            <a:custGeom>
              <a:avLst/>
              <a:gdLst/>
              <a:ahLst/>
              <a:cxnLst/>
              <a:rect r="r" b="b" t="t" l="l"/>
              <a:pathLst>
                <a:path h="349858" w="1348510">
                  <a:moveTo>
                    <a:pt x="0" y="0"/>
                  </a:moveTo>
                  <a:lnTo>
                    <a:pt x="1348510" y="0"/>
                  </a:lnTo>
                  <a:lnTo>
                    <a:pt x="1348510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48510" cy="407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000695" y="3577579"/>
            <a:ext cx="2056052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84379" y="3577579"/>
            <a:ext cx="2056052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210721" y="3857614"/>
            <a:ext cx="5729748" cy="3408933"/>
            <a:chOff x="0" y="0"/>
            <a:chExt cx="1509069" cy="8978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9069" cy="897826"/>
            </a:xfrm>
            <a:custGeom>
              <a:avLst/>
              <a:gdLst/>
              <a:ahLst/>
              <a:cxnLst/>
              <a:rect r="r" b="b" t="t" l="l"/>
              <a:pathLst>
                <a:path h="897826" w="1509069">
                  <a:moveTo>
                    <a:pt x="0" y="0"/>
                  </a:moveTo>
                  <a:lnTo>
                    <a:pt x="1509069" y="0"/>
                  </a:lnTo>
                  <a:lnTo>
                    <a:pt x="1509069" y="897826"/>
                  </a:lnTo>
                  <a:lnTo>
                    <a:pt x="0" y="8978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509069" cy="954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47531" y="3857614"/>
            <a:ext cx="5729748" cy="3408933"/>
            <a:chOff x="0" y="0"/>
            <a:chExt cx="1509069" cy="8978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09069" cy="897826"/>
            </a:xfrm>
            <a:custGeom>
              <a:avLst/>
              <a:gdLst/>
              <a:ahLst/>
              <a:cxnLst/>
              <a:rect r="r" b="b" t="t" l="l"/>
              <a:pathLst>
                <a:path h="897826" w="1509069">
                  <a:moveTo>
                    <a:pt x="0" y="0"/>
                  </a:moveTo>
                  <a:lnTo>
                    <a:pt x="1509069" y="0"/>
                  </a:lnTo>
                  <a:lnTo>
                    <a:pt x="1509069" y="897826"/>
                  </a:lnTo>
                  <a:lnTo>
                    <a:pt x="0" y="8978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509069" cy="954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610838" y="5086350"/>
            <a:ext cx="4956960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Need for a high </a:t>
            </a: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accuracy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reliable, and generalizable AI model due to </a:t>
            </a: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variability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X-rays.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97719" y="5086350"/>
            <a:ext cx="4956960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Requirement for </a:t>
            </a: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 assessment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disease progression rather than subjective visual grading.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368095" y="1235177"/>
            <a:ext cx="7551809" cy="1030616"/>
            <a:chOff x="0" y="0"/>
            <a:chExt cx="2272595" cy="3101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72595" cy="310147"/>
            </a:xfrm>
            <a:custGeom>
              <a:avLst/>
              <a:gdLst/>
              <a:ahLst/>
              <a:cxnLst/>
              <a:rect r="r" b="b" t="t" l="l"/>
              <a:pathLst>
                <a:path h="310147" w="2272595">
                  <a:moveTo>
                    <a:pt x="0" y="0"/>
                  </a:moveTo>
                  <a:lnTo>
                    <a:pt x="2272595" y="0"/>
                  </a:lnTo>
                  <a:lnTo>
                    <a:pt x="227259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27259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089317" y="1275465"/>
            <a:ext cx="6277152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AutoShape 22" id="22"/>
          <p:cNvSpPr/>
          <p:nvPr/>
        </p:nvSpPr>
        <p:spPr>
          <a:xfrm>
            <a:off x="7891929" y="2865355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7742954" y="9622014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4875863" y="3558515"/>
            <a:ext cx="2305717" cy="598197"/>
            <a:chOff x="0" y="0"/>
            <a:chExt cx="1348510" cy="3498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8510" cy="349858"/>
            </a:xfrm>
            <a:custGeom>
              <a:avLst/>
              <a:gdLst/>
              <a:ahLst/>
              <a:cxnLst/>
              <a:rect r="r" b="b" t="t" l="l"/>
              <a:pathLst>
                <a:path h="349858" w="1348510">
                  <a:moveTo>
                    <a:pt x="0" y="0"/>
                  </a:moveTo>
                  <a:lnTo>
                    <a:pt x="1348510" y="0"/>
                  </a:lnTo>
                  <a:lnTo>
                    <a:pt x="1348510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48510" cy="407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59547" y="3558515"/>
            <a:ext cx="2305717" cy="598197"/>
            <a:chOff x="0" y="0"/>
            <a:chExt cx="1348510" cy="3498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8510" cy="349858"/>
            </a:xfrm>
            <a:custGeom>
              <a:avLst/>
              <a:gdLst/>
              <a:ahLst/>
              <a:cxnLst/>
              <a:rect r="r" b="b" t="t" l="l"/>
              <a:pathLst>
                <a:path h="349858" w="1348510">
                  <a:moveTo>
                    <a:pt x="0" y="0"/>
                  </a:moveTo>
                  <a:lnTo>
                    <a:pt x="1348510" y="0"/>
                  </a:lnTo>
                  <a:lnTo>
                    <a:pt x="1348510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48510" cy="407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000695" y="3577579"/>
            <a:ext cx="2056052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84379" y="3577579"/>
            <a:ext cx="2056052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60277" y="3466203"/>
            <a:ext cx="12552684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 gather and organize a high-quality KOA X-ray dataset &amp; design a robust preprocessing and augmentation pipeline to enhance image clarity, highlight clinical features, and ensure balanced class representation.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96626" y="5086350"/>
            <a:ext cx="12552684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 develop a high-accuracy Ensemble CNN model for automated KOA severity classification using EfficientNet, DenseNet121, InceptionV3, and MobileNetV2.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96626" y="6775539"/>
            <a:ext cx="12552684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 implement Mask R-CNN based segmentation for precise Joint Space Width (JSW) measurement and validate clinical reliability through IoU and performance metrics.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366890" y="1241246"/>
            <a:ext cx="5538711" cy="1030616"/>
            <a:chOff x="0" y="0"/>
            <a:chExt cx="1666785" cy="3101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560546" y="1281534"/>
            <a:ext cx="5151398" cy="81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name="AutoShape 17" id="17"/>
          <p:cNvSpPr/>
          <p:nvPr/>
        </p:nvSpPr>
        <p:spPr>
          <a:xfrm>
            <a:off x="7891929" y="2865355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7891929" y="9564864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2238690" y="3523353"/>
            <a:ext cx="972766" cy="761320"/>
            <a:chOff x="0" y="0"/>
            <a:chExt cx="568927" cy="4452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8927" cy="445262"/>
            </a:xfrm>
            <a:custGeom>
              <a:avLst/>
              <a:gdLst/>
              <a:ahLst/>
              <a:cxnLst/>
              <a:rect r="r" b="b" t="t" l="l"/>
              <a:pathLst>
                <a:path h="445262" w="568927">
                  <a:moveTo>
                    <a:pt x="0" y="0"/>
                  </a:moveTo>
                  <a:lnTo>
                    <a:pt x="568927" y="0"/>
                  </a:lnTo>
                  <a:lnTo>
                    <a:pt x="568927" y="445262"/>
                  </a:lnTo>
                  <a:lnTo>
                    <a:pt x="0" y="445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68927" cy="502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38690" y="5180109"/>
            <a:ext cx="972766" cy="761320"/>
            <a:chOff x="0" y="0"/>
            <a:chExt cx="568927" cy="4452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8927" cy="445262"/>
            </a:xfrm>
            <a:custGeom>
              <a:avLst/>
              <a:gdLst/>
              <a:ahLst/>
              <a:cxnLst/>
              <a:rect r="r" b="b" t="t" l="l"/>
              <a:pathLst>
                <a:path h="445262" w="568927">
                  <a:moveTo>
                    <a:pt x="0" y="0"/>
                  </a:moveTo>
                  <a:lnTo>
                    <a:pt x="568927" y="0"/>
                  </a:lnTo>
                  <a:lnTo>
                    <a:pt x="568927" y="445262"/>
                  </a:lnTo>
                  <a:lnTo>
                    <a:pt x="0" y="445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68927" cy="502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238690" y="6832689"/>
            <a:ext cx="972766" cy="761320"/>
            <a:chOff x="0" y="0"/>
            <a:chExt cx="568927" cy="4452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8927" cy="445262"/>
            </a:xfrm>
            <a:custGeom>
              <a:avLst/>
              <a:gdLst/>
              <a:ahLst/>
              <a:cxnLst/>
              <a:rect r="r" b="b" t="t" l="l"/>
              <a:pathLst>
                <a:path h="445262" w="568927">
                  <a:moveTo>
                    <a:pt x="0" y="0"/>
                  </a:moveTo>
                  <a:lnTo>
                    <a:pt x="568927" y="0"/>
                  </a:lnTo>
                  <a:lnTo>
                    <a:pt x="568927" y="445262"/>
                  </a:lnTo>
                  <a:lnTo>
                    <a:pt x="0" y="445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68927" cy="502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316387" y="3623978"/>
            <a:ext cx="814291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16387" y="5280734"/>
            <a:ext cx="814291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16387" y="6933314"/>
            <a:ext cx="814291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89755" y="404923"/>
            <a:ext cx="5308491" cy="850605"/>
            <a:chOff x="0" y="0"/>
            <a:chExt cx="1935580" cy="310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5580" cy="310147"/>
            </a:xfrm>
            <a:custGeom>
              <a:avLst/>
              <a:gdLst/>
              <a:ahLst/>
              <a:cxnLst/>
              <a:rect r="r" b="b" t="t" l="l"/>
              <a:pathLst>
                <a:path h="310147" w="1935580">
                  <a:moveTo>
                    <a:pt x="0" y="0"/>
                  </a:moveTo>
                  <a:lnTo>
                    <a:pt x="1935580" y="0"/>
                  </a:lnTo>
                  <a:lnTo>
                    <a:pt x="1935580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35580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92117" y="443446"/>
            <a:ext cx="4903766" cy="66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6"/>
              </a:lnSpc>
              <a:spcBef>
                <a:spcPct val="0"/>
              </a:spcBef>
            </a:pPr>
            <a:r>
              <a:rPr lang="en-US" b="true" sz="37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53509" y="1645002"/>
          <a:ext cx="17308667" cy="8111405"/>
        </p:xfrm>
        <a:graphic>
          <a:graphicData uri="http://schemas.openxmlformats.org/drawingml/2006/table">
            <a:tbl>
              <a:tblPr/>
              <a:tblGrid>
                <a:gridCol w="3253546"/>
                <a:gridCol w="2698986"/>
                <a:gridCol w="3540257"/>
                <a:gridCol w="3540257"/>
                <a:gridCol w="4275621"/>
              </a:tblGrid>
              <a:tr h="9728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Title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Dataset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 Methodology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Relevance to Project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34592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2–8% improvement vs. single CNN 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Deep Ensemble Network for Quantification and Severity Assessment of Knee Osteoarthritis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OAI X-ray 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Proposed ensemble of multiple CNN models for KOA X-ray classification, achieving better performance than individual models.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Supports our CNN based architecture approach for reliable KOA grading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92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Femoral cartilage Dice Score: 80%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Improved-Mask R-CNN: Towards an Accurate Generic MSK MRI Instance Segmentation Platform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OAI subset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Applied Mask R-CNN for precise musculoskeletal region segmentation with high Dice Score.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Validates Mask R-CNN segmentation for JSW measurement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89755" y="404923"/>
            <a:ext cx="5308491" cy="850605"/>
            <a:chOff x="0" y="0"/>
            <a:chExt cx="1935580" cy="310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5580" cy="310147"/>
            </a:xfrm>
            <a:custGeom>
              <a:avLst/>
              <a:gdLst/>
              <a:ahLst/>
              <a:cxnLst/>
              <a:rect r="r" b="b" t="t" l="l"/>
              <a:pathLst>
                <a:path h="310147" w="1935580">
                  <a:moveTo>
                    <a:pt x="0" y="0"/>
                  </a:moveTo>
                  <a:lnTo>
                    <a:pt x="1935580" y="0"/>
                  </a:lnTo>
                  <a:lnTo>
                    <a:pt x="1935580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35580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92117" y="443446"/>
            <a:ext cx="4903766" cy="66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6"/>
              </a:lnSpc>
              <a:spcBef>
                <a:spcPct val="0"/>
              </a:spcBef>
            </a:pPr>
            <a:r>
              <a:rPr lang="en-US" b="true" sz="37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853509" y="1645002"/>
          <a:ext cx="17308667" cy="8111405"/>
        </p:xfrm>
        <a:graphic>
          <a:graphicData uri="http://schemas.openxmlformats.org/drawingml/2006/table">
            <a:tbl>
              <a:tblPr/>
              <a:tblGrid>
                <a:gridCol w="3253546"/>
                <a:gridCol w="2698986"/>
                <a:gridCol w="3540257"/>
                <a:gridCol w="3540257"/>
                <a:gridCol w="4275621"/>
              </a:tblGrid>
              <a:tr h="9728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Title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Dataset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 Methodology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Relevance to Project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34592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Higher accuracy &amp; recall than single networks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Ensemble CNN Model for Computer-Aided Knee Osteoarthritis Diagnosis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Public KOA datasets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Used a hybrid ensemble of deep CNNs (InceptionResNetV2 + Xception) to increase accuracy and minimize misclassification.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Confirms ensemble-based decision fusion increases classification reliability.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92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91.03% accuracy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Automatic Classification of the Severity of Knee Osteoarthritis Using Enhanced Image Sharpening and 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OAI X-ray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Showed that CLAHE preprocessing improves bone clarity and boosts classification performance from 72% to 91%.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Validates our CLAHE-based preprocessing pipeline to enhance X-ray visibility.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66890" y="1241246"/>
            <a:ext cx="5538711" cy="1030616"/>
            <a:chOff x="0" y="0"/>
            <a:chExt cx="1666785" cy="310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59002" y="3273106"/>
            <a:ext cx="7215775" cy="630432"/>
            <a:chOff x="0" y="0"/>
            <a:chExt cx="3549869" cy="3101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49869" cy="310147"/>
            </a:xfrm>
            <a:custGeom>
              <a:avLst/>
              <a:gdLst/>
              <a:ahLst/>
              <a:cxnLst/>
              <a:rect r="r" b="b" t="t" l="l"/>
              <a:pathLst>
                <a:path h="310147" w="3549869">
                  <a:moveTo>
                    <a:pt x="0" y="0"/>
                  </a:moveTo>
                  <a:lnTo>
                    <a:pt x="3549869" y="0"/>
                  </a:lnTo>
                  <a:lnTo>
                    <a:pt x="3549869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549869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8377418" y="9746530"/>
            <a:ext cx="2504141" cy="0"/>
          </a:xfrm>
          <a:prstGeom prst="line">
            <a:avLst/>
          </a:prstGeom>
          <a:ln cap="rnd" w="1143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2859903" y="4166150"/>
            <a:ext cx="12552684" cy="519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Mendeley Data (derived from the OAI) provides the Knee Osteoarthritis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Severity Grading Dataset used by the system. 8,260 X-ray pictures with Kellgren-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Lawrence (KL) grade labels.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 Simplification : The original five-class system was combined into three strong categories to enhance clinical decision-making : 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Healthy : (Grades 0, 1, 2) 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Moderate : (Grade 3) 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Severe : (Grade 4)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Stratified split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Train 70% | Validation 10% | Test 20% </a:t>
            </a:r>
          </a:p>
          <a:p>
            <a:pPr algn="just">
              <a:lnSpc>
                <a:spcPts val="3220"/>
              </a:lnSpc>
            </a:pP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560546" y="1281534"/>
            <a:ext cx="5151398" cy="81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04291" y="3308287"/>
            <a:ext cx="652519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ACQUISITION &amp; PREPARATION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302810" y="642092"/>
            <a:ext cx="13297391" cy="1030616"/>
            <a:chOff x="0" y="0"/>
            <a:chExt cx="4001634" cy="3101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01634" cy="310147"/>
            </a:xfrm>
            <a:custGeom>
              <a:avLst/>
              <a:gdLst/>
              <a:ahLst/>
              <a:cxnLst/>
              <a:rect r="r" b="b" t="t" l="l"/>
              <a:pathLst>
                <a:path h="310147" w="4001634">
                  <a:moveTo>
                    <a:pt x="0" y="0"/>
                  </a:moveTo>
                  <a:lnTo>
                    <a:pt x="4001634" y="0"/>
                  </a:lnTo>
                  <a:lnTo>
                    <a:pt x="4001634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001634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2729530" y="2430325"/>
          <a:ext cx="12307117" cy="7134539"/>
        </p:xfrm>
        <a:graphic>
          <a:graphicData uri="http://schemas.openxmlformats.org/drawingml/2006/table">
            <a:tbl>
              <a:tblPr/>
              <a:tblGrid>
                <a:gridCol w="1903954"/>
                <a:gridCol w="1903954"/>
                <a:gridCol w="1903954"/>
                <a:gridCol w="1903954"/>
                <a:gridCol w="2159927"/>
                <a:gridCol w="2531376"/>
              </a:tblGrid>
              <a:tr h="1187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Testing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Validation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Total Images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Disease Grade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KL Grade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Training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</a:tr>
              <a:tr h="10246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639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3253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Healthy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Grade 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2286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</a:tr>
              <a:tr h="10246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296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153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1495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Doubtful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Grade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1046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</a:tr>
              <a:tr h="10246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447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2175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Minimal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Grade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1516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</a:tr>
              <a:tr h="10246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1086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Moderate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Grade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757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</a:tr>
              <a:tr h="9242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51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251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Severe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Grade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173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</a:tr>
              <a:tr h="9242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1656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826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8260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All Grades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5778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3042811" y="682379"/>
            <a:ext cx="13907761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DISTRIBUTION OF DATA FOR CLASSIFICATION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719207" y="642106"/>
            <a:ext cx="12554970" cy="1030616"/>
            <a:chOff x="0" y="0"/>
            <a:chExt cx="3778215" cy="3101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78215" cy="310147"/>
            </a:xfrm>
            <a:custGeom>
              <a:avLst/>
              <a:gdLst/>
              <a:ahLst/>
              <a:cxnLst/>
              <a:rect r="r" b="b" t="t" l="l"/>
              <a:pathLst>
                <a:path h="310147" w="3778215">
                  <a:moveTo>
                    <a:pt x="0" y="0"/>
                  </a:moveTo>
                  <a:lnTo>
                    <a:pt x="3778215" y="0"/>
                  </a:lnTo>
                  <a:lnTo>
                    <a:pt x="377821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77821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2582488" y="2430325"/>
          <a:ext cx="12307117" cy="6643573"/>
        </p:xfrm>
        <a:graphic>
          <a:graphicData uri="http://schemas.openxmlformats.org/drawingml/2006/table">
            <a:tbl>
              <a:tblPr/>
              <a:tblGrid>
                <a:gridCol w="4102372"/>
                <a:gridCol w="4102372"/>
                <a:gridCol w="4102372"/>
              </a:tblGrid>
              <a:tr h="11830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Subset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Number of Images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</a:tr>
              <a:tr h="1820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Training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Used to train the Mask RC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to create knee joint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space polygon masks.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</a:tr>
              <a:tr h="1820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Validation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Used to adjust the mask heads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and assess the Intersection 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over Union (IoU) score.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</a:tr>
              <a:tr h="1820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985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number of photos with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annotations utilized for the 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segmentation task.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A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D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3042811" y="682379"/>
            <a:ext cx="13907761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ANNOTATED IMAGES FOR SEGMENTATION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66890" y="1241246"/>
            <a:ext cx="5538711" cy="1030616"/>
            <a:chOff x="0" y="0"/>
            <a:chExt cx="1666785" cy="310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12369" y="3269018"/>
            <a:ext cx="6383977" cy="630432"/>
            <a:chOff x="0" y="0"/>
            <a:chExt cx="3140658" cy="3101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40658" cy="310147"/>
            </a:xfrm>
            <a:custGeom>
              <a:avLst/>
              <a:gdLst/>
              <a:ahLst/>
              <a:cxnLst/>
              <a:rect r="r" b="b" t="t" l="l"/>
              <a:pathLst>
                <a:path h="310147" w="3140658">
                  <a:moveTo>
                    <a:pt x="0" y="0"/>
                  </a:moveTo>
                  <a:lnTo>
                    <a:pt x="3140658" y="0"/>
                  </a:lnTo>
                  <a:lnTo>
                    <a:pt x="3140658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140658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859903" y="4166150"/>
            <a:ext cx="12552684" cy="319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Image Enhancement &amp; Class Balancing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Median Filtering for noise removal while preserving bone edges.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CLAHE for local contr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ast normalization and joint-space clarity.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Augmentation applied to under-represented classes to maintain dataset balance.</a:t>
            </a: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560546" y="1281534"/>
            <a:ext cx="5151398" cy="81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71148" y="3304199"/>
            <a:ext cx="652519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PREPROCESSING &amp; TRAINING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59903" y="7387252"/>
            <a:ext cx="12552684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KOA Classification (Ensemble CNN)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Trained EfficientNe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tB5, DenseNet121, MobileNetV2, InceptionV3 individually.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Averaging Ensemble (Hard Voting) improves reliability &amp; reduces misclassification.</a:t>
            </a:r>
          </a:p>
          <a:p>
            <a:pPr algn="just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44282" y="229017"/>
            <a:ext cx="4571300" cy="850605"/>
            <a:chOff x="0" y="0"/>
            <a:chExt cx="1666785" cy="310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11047" y="1809238"/>
            <a:ext cx="5566322" cy="630432"/>
            <a:chOff x="0" y="0"/>
            <a:chExt cx="2738405" cy="3101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38405" cy="310147"/>
            </a:xfrm>
            <a:custGeom>
              <a:avLst/>
              <a:gdLst/>
              <a:ahLst/>
              <a:cxnLst/>
              <a:rect r="r" b="b" t="t" l="l"/>
              <a:pathLst>
                <a:path h="310147" w="2738405">
                  <a:moveTo>
                    <a:pt x="0" y="0"/>
                  </a:moveTo>
                  <a:lnTo>
                    <a:pt x="2738405" y="0"/>
                  </a:lnTo>
                  <a:lnTo>
                    <a:pt x="273840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73840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353590" y="2744470"/>
            <a:ext cx="12552684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Segmentation Using Mask R-CNN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Mask R-CNN trained to extr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 the knee joint space (ROI) at pixel-level precision.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ual annotation used to create binary masks for training.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04114" y="267552"/>
            <a:ext cx="4251636" cy="66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6"/>
              </a:lnSpc>
              <a:spcBef>
                <a:spcPct val="0"/>
              </a:spcBef>
            </a:pPr>
            <a:r>
              <a:rPr lang="en-US" b="true" sz="37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04734" y="1844419"/>
            <a:ext cx="652519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SEGMENTATION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53590" y="5448300"/>
            <a:ext cx="12552684" cy="479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Quantitative JSW Measurement &amp; Clinical Validation</a:t>
            </a:r>
          </a:p>
          <a:p>
            <a:pPr algn="just">
              <a:lnSpc>
                <a:spcPts val="3220"/>
              </a:lnSpc>
            </a:pP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rect clinical consultation with Dr. Mudit Sharma (Orthopedic Surgeon), MAMC, New Delhi helps to identify real clinical challenges, especially :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Need for objective millimeter-level JSW measurement in treatment planning.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His feedback led to the integration of Mask R-CNN for precise segmentation and quantitative JSW results.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Outputs an objective Joint Space Width value for severity assessment.</a:t>
            </a:r>
          </a:p>
          <a:p>
            <a:pPr algn="just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730738" y="229017"/>
            <a:ext cx="5885741" cy="850605"/>
            <a:chOff x="0" y="0"/>
            <a:chExt cx="2146056" cy="3101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6056" cy="310147"/>
            </a:xfrm>
            <a:custGeom>
              <a:avLst/>
              <a:gdLst/>
              <a:ahLst/>
              <a:cxnLst/>
              <a:rect r="r" b="b" t="t" l="l"/>
              <a:pathLst>
                <a:path h="310147" w="2146056">
                  <a:moveTo>
                    <a:pt x="0" y="0"/>
                  </a:moveTo>
                  <a:lnTo>
                    <a:pt x="2146056" y="0"/>
                  </a:lnTo>
                  <a:lnTo>
                    <a:pt x="2146056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46056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907045" y="1289105"/>
            <a:ext cx="11136179" cy="8821280"/>
          </a:xfrm>
          <a:custGeom>
            <a:avLst/>
            <a:gdLst/>
            <a:ahLst/>
            <a:cxnLst/>
            <a:rect r="r" b="b" t="t" l="l"/>
            <a:pathLst>
              <a:path h="8821280" w="11136179">
                <a:moveTo>
                  <a:pt x="0" y="0"/>
                </a:moveTo>
                <a:lnTo>
                  <a:pt x="11136179" y="0"/>
                </a:lnTo>
                <a:lnTo>
                  <a:pt x="11136179" y="8821279"/>
                </a:lnTo>
                <a:lnTo>
                  <a:pt x="0" y="8821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099" r="0" b="-74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90570" y="267552"/>
            <a:ext cx="5725909" cy="66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6"/>
              </a:lnSpc>
              <a:spcBef>
                <a:spcPct val="0"/>
              </a:spcBef>
            </a:pPr>
            <a:r>
              <a:rPr lang="en-US" b="true" sz="372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66890" y="1241246"/>
            <a:ext cx="5538711" cy="1030616"/>
            <a:chOff x="0" y="0"/>
            <a:chExt cx="1666785" cy="310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606747" y="3258820"/>
            <a:ext cx="12552684" cy="599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Ensemble CNN model achieved 99.03% accuracy, 99.02% precision, 99.03% recall, 99.02% F1-score — highest among all models.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Best single model: DenseNet121 with 94.87% accuracy (still ~4–5% lower than ensemble) 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Other individual CNNs (EfficientNetB5, InceptionV3, MobileNetV2) scored ~94% accuracy each.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Mask R-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CNN segmentation achieved IoU = 0.7321, effectively extracting knee joint regio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for JSW calculation.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 visuals (classification + segmentation + JSW distance) confirmed correct detection and region extraction during evaluation.</a:t>
            </a: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560546" y="1281534"/>
            <a:ext cx="5151398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66890" y="1241246"/>
            <a:ext cx="5538711" cy="1030616"/>
            <a:chOff x="0" y="0"/>
            <a:chExt cx="1666785" cy="310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560546" y="1281534"/>
            <a:ext cx="5151398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227555"/>
            <a:ext cx="16411498" cy="2925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1896" indent="-225948" lvl="1">
              <a:lnSpc>
                <a:spcPts val="2930"/>
              </a:lnSpc>
              <a:buFont typeface="Arial"/>
              <a:buChar char="•"/>
            </a:pPr>
            <a:r>
              <a:rPr lang="en-US" sz="20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Running four CNNs + Mask R-CNN increases inference time and requires high-end GPU/cloud for real-time deployment.</a:t>
            </a:r>
          </a:p>
          <a:p>
            <a:pPr algn="just">
              <a:lnSpc>
                <a:spcPts val="2930"/>
              </a:lnSpc>
            </a:pPr>
          </a:p>
          <a:p>
            <a:pPr algn="just" marL="451896" indent="-225948" lvl="1">
              <a:lnSpc>
                <a:spcPts val="2930"/>
              </a:lnSpc>
              <a:buFont typeface="Arial"/>
              <a:buChar char="•"/>
            </a:pPr>
            <a:r>
              <a:rPr lang="en-US" sz="20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Segmentation accuracy depends on annotation quality, and manually labeled masks can introduce minor human error.</a:t>
            </a:r>
          </a:p>
          <a:p>
            <a:pPr algn="just">
              <a:lnSpc>
                <a:spcPts val="2930"/>
              </a:lnSpc>
            </a:pPr>
          </a:p>
          <a:p>
            <a:pPr algn="just" marL="451896" indent="-225948" lvl="1">
              <a:lnSpc>
                <a:spcPts val="2930"/>
              </a:lnSpc>
              <a:buFont typeface="Arial"/>
              <a:buChar char="•"/>
            </a:pPr>
            <a:r>
              <a:rPr lang="en-US" sz="20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class imbalance and limited demographic diversity may reduce model reliability for severe and rare deformities.</a:t>
            </a:r>
          </a:p>
          <a:p>
            <a:pPr algn="just">
              <a:lnSpc>
                <a:spcPts val="2930"/>
              </a:lnSpc>
            </a:pPr>
          </a:p>
          <a:p>
            <a:pPr algn="just" marL="451896" indent="-225948" lvl="1">
              <a:lnSpc>
                <a:spcPts val="2930"/>
              </a:lnSpc>
              <a:buFont typeface="Arial"/>
              <a:buChar char="•"/>
            </a:pPr>
            <a:r>
              <a:rPr lang="en-US" sz="20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Only imaging is considered — no patient symptoms, pain score, or clinical history used for prediction.</a:t>
            </a:r>
          </a:p>
          <a:p>
            <a:pPr algn="just">
              <a:lnSpc>
                <a:spcPts val="293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66890" y="1241246"/>
            <a:ext cx="5538711" cy="1030616"/>
            <a:chOff x="0" y="0"/>
            <a:chExt cx="1666785" cy="310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560546" y="1281534"/>
            <a:ext cx="5151398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0999" y="3117943"/>
            <a:ext cx="16230600" cy="346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193" indent="-194096" lvl="1">
              <a:lnSpc>
                <a:spcPts val="2517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Reduce computational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load by optimizing ensemble size and deploying lightweight architectures for real-time clinical use on standard hospital systems.</a:t>
            </a:r>
          </a:p>
          <a:p>
            <a:pPr algn="just">
              <a:lnSpc>
                <a:spcPts val="2517"/>
              </a:lnSpc>
            </a:pPr>
          </a:p>
          <a:p>
            <a:pPr algn="just" marL="388193" indent="-194096" lvl="1">
              <a:lnSpc>
                <a:spcPts val="2517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 reliability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JSW measurement by incorporating 3D or multi-view imaging to overcome limitations of 2D X-ray projections.</a:t>
            </a:r>
          </a:p>
          <a:p>
            <a:pPr algn="just">
              <a:lnSpc>
                <a:spcPts val="2517"/>
              </a:lnSpc>
            </a:pPr>
          </a:p>
          <a:p>
            <a:pPr algn="just" marL="388193" indent="-194096" lvl="1">
              <a:lnSpc>
                <a:spcPts val="2517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Expand dataset diversity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by including more severe OA cases and wider demographics to improve generalization across populations.</a:t>
            </a:r>
          </a:p>
          <a:p>
            <a:pPr algn="just">
              <a:lnSpc>
                <a:spcPts val="2517"/>
              </a:lnSpc>
            </a:pPr>
          </a:p>
          <a:p>
            <a:pPr algn="just" marL="388193" indent="-194096" lvl="1">
              <a:lnSpc>
                <a:spcPts val="2517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Integrate multimoda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 clinical information such as pain score, age, BMI, and medical history for more accurate and personalized diagnosis.</a:t>
            </a:r>
          </a:p>
          <a:p>
            <a:pPr algn="just">
              <a:lnSpc>
                <a:spcPts val="2517"/>
              </a:lnSpc>
            </a:pPr>
          </a:p>
          <a:p>
            <a:pPr algn="just" marL="388193" indent="-194096" lvl="1">
              <a:lnSpc>
                <a:spcPts val="2517"/>
              </a:lnSpc>
              <a:buFont typeface="Arial"/>
              <a:buChar char="•"/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 a universal </a:t>
            </a:r>
            <a:r>
              <a:rPr lang="en-US" b="true" sz="17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diagnostic application</a:t>
            </a: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supporting hip, hand, and other joints with real-time decision support for orthopedic practice.</a:t>
            </a:r>
          </a:p>
          <a:p>
            <a:pPr algn="just">
              <a:lnSpc>
                <a:spcPts val="2517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7684" y="5496684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12305" y="-193005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17953" y="6316953"/>
            <a:ext cx="3970047" cy="3970047"/>
          </a:xfrm>
          <a:custGeom>
            <a:avLst/>
            <a:gdLst/>
            <a:ahLst/>
            <a:cxnLst/>
            <a:rect r="r" b="b" t="t" l="l"/>
            <a:pathLst>
              <a:path h="3970047" w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0" y="0"/>
            <a:ext cx="3970047" cy="3970047"/>
          </a:xfrm>
          <a:custGeom>
            <a:avLst/>
            <a:gdLst/>
            <a:ahLst/>
            <a:cxnLst/>
            <a:rect r="r" b="b" t="t" l="l"/>
            <a:pathLst>
              <a:path h="3970047" w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343100" y="-1328448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44900" y="895855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7929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248497" y="5633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71722" y="3693822"/>
            <a:ext cx="10944556" cy="172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7"/>
              </a:lnSpc>
              <a:spcBef>
                <a:spcPct val="0"/>
              </a:spcBef>
            </a:pPr>
            <a:r>
              <a:rPr lang="en-US" b="true" sz="95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DAG66_mtRdo</dc:identifier>
  <dcterms:modified xsi:type="dcterms:W3CDTF">2011-08-01T06:04:30Z</dcterms:modified>
  <cp:revision>1</cp:revision>
  <dc:title>AUTOMATED DIAGNOSIS AND QUANTIFICATION OF KNEE OSTEOARTHRITIS</dc:title>
</cp:coreProperties>
</file>